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embeddedFontLst>
    <p:embeddedFont>
      <p:font typeface="Algerian" panose="04020705040A02060702" pitchFamily="82" charset="0"/>
      <p:regular r:id="rId12"/>
    </p:embeddedFont>
    <p:embeddedFont>
      <p:font typeface="Raleway" pitchFamily="2" charset="0"/>
      <p:regular r:id="rId13"/>
    </p:embeddedFont>
    <p:embeddedFont>
      <p:font typeface="Roboto" panose="02000000000000000000" pitchFamily="2" charset="0"/>
      <p:regular r:id="rId14"/>
    </p:embeddedFont>
    <p:embeddedFont>
      <p:font typeface="Roboto Bold" panose="020B0604020202020204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6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50398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079748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Placement Hub 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1579438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Placement Management System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3925119" y="2678013"/>
            <a:ext cx="4722763" cy="1385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TEAM MEMBERS:</a:t>
            </a:r>
            <a:endParaRPr lang="en-US" sz="1100" dirty="0"/>
          </a:p>
          <a:p>
            <a:pPr marL="0" indent="0" algn="l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2520030529-B.THRINADH</a:t>
            </a:r>
            <a:endParaRPr lang="en-US" sz="1100" dirty="0"/>
          </a:p>
          <a:p>
            <a:pPr marL="0" indent="0" algn="l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2520030532-CH.VIVEK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2520030055-J.POORNESH KUMAR</a:t>
            </a:r>
            <a:endParaRPr lang="en-US" sz="11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6CB9881-8270-5F41-1298-A56D2C2DC53A}"/>
              </a:ext>
            </a:extLst>
          </p:cNvPr>
          <p:cNvSpPr/>
          <p:nvPr/>
        </p:nvSpPr>
        <p:spPr>
          <a:xfrm>
            <a:off x="7935686" y="4715691"/>
            <a:ext cx="1208314" cy="42780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92249"/>
            <a:ext cx="720179" cy="215354"/>
          </a:xfrm>
          <a:prstGeom prst="roundRect">
            <a:avLst>
              <a:gd name="adj" fmla="val 22119"/>
            </a:avLst>
          </a:prstGeom>
          <a:solidFill>
            <a:srgbClr val="E1E1EA"/>
          </a:solidFill>
          <a:ln/>
        </p:spPr>
      </p:sp>
      <p:sp>
        <p:nvSpPr>
          <p:cNvPr id="3" name="Text 1"/>
          <p:cNvSpPr/>
          <p:nvPr/>
        </p:nvSpPr>
        <p:spPr>
          <a:xfrm>
            <a:off x="581174" y="534739"/>
            <a:ext cx="1007269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OVERVIEW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764307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Abstract</a:t>
            </a:r>
            <a:endParaRPr lang="en-US" sz="2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579364"/>
            <a:ext cx="5177582" cy="291234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24339" y="1600274"/>
            <a:ext cx="2628230" cy="1360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Placement Hub is a DSA-based system designed to </a:t>
            </a:r>
            <a:r>
              <a:rPr lang="en-US" sz="11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simplify and streamline college placements</a:t>
            </a: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It helps placement cells manage student profiles, company details, job opportunities, and recruitment drives in an organized manner.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024339" y="3088704"/>
            <a:ext cx="2628230" cy="1460004"/>
          </a:xfrm>
          <a:prstGeom prst="rect">
            <a:avLst/>
          </a:prstGeom>
          <a:noFill/>
          <a:ln/>
        </p:spPr>
        <p:txBody>
          <a:bodyPr wrap="square" lIns="0" tIns="56707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Reduces manual effort and speeds up data access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Uses DSA for efficient searching, sorting, and filtering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Matches students with suitable roles based on skills and eligibility</a:t>
            </a:r>
            <a:endParaRPr lang="en-US" sz="11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9116FCF-F086-CA98-F97F-F5BF5B0322AC}"/>
              </a:ext>
            </a:extLst>
          </p:cNvPr>
          <p:cNvSpPr/>
          <p:nvPr/>
        </p:nvSpPr>
        <p:spPr>
          <a:xfrm>
            <a:off x="7909560" y="4630783"/>
            <a:ext cx="1175657" cy="51271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89855"/>
            <a:ext cx="342007" cy="107603"/>
          </a:xfrm>
          <a:prstGeom prst="roundRect">
            <a:avLst>
              <a:gd name="adj" fmla="val 22134"/>
            </a:avLst>
          </a:prstGeom>
          <a:solidFill>
            <a:srgbClr val="E1E1EA"/>
          </a:solidFill>
          <a:ln/>
        </p:spPr>
      </p:sp>
      <p:sp>
        <p:nvSpPr>
          <p:cNvPr id="3" name="Text 1"/>
          <p:cNvSpPr/>
          <p:nvPr/>
        </p:nvSpPr>
        <p:spPr>
          <a:xfrm>
            <a:off x="538609" y="411063"/>
            <a:ext cx="714226" cy="65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PROBLEM</a:t>
            </a:r>
            <a:endParaRPr lang="en-US" sz="400" dirty="0"/>
          </a:p>
        </p:txBody>
      </p:sp>
      <p:sp>
        <p:nvSpPr>
          <p:cNvPr id="4" name="Text 2"/>
          <p:cNvSpPr/>
          <p:nvPr/>
        </p:nvSpPr>
        <p:spPr>
          <a:xfrm>
            <a:off x="496119" y="511597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Problem We're Solving</a:t>
            </a:r>
            <a:endParaRPr lang="en-US" sz="13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825996"/>
            <a:ext cx="3989412" cy="39894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663232" y="2463775"/>
            <a:ext cx="3989412" cy="170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Traditional placement processes rely on </a:t>
            </a:r>
            <a:r>
              <a:rPr lang="en-US" sz="5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manual or unorganized methods</a:t>
            </a:r>
            <a:r>
              <a:rPr lang="en-US" sz="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spreadsheets, paper records, and ad-hoc communication. This creates bottlenecks at every stage.</a:t>
            </a:r>
            <a:endParaRPr lang="en-US" sz="550" dirty="0"/>
          </a:p>
        </p:txBody>
      </p:sp>
      <p:sp>
        <p:nvSpPr>
          <p:cNvPr id="7" name="Text 4"/>
          <p:cNvSpPr/>
          <p:nvPr/>
        </p:nvSpPr>
        <p:spPr>
          <a:xfrm>
            <a:off x="4663232" y="2665735"/>
            <a:ext cx="3989412" cy="279871"/>
          </a:xfrm>
          <a:prstGeom prst="rect">
            <a:avLst/>
          </a:prstGeom>
          <a:noFill/>
          <a:ln/>
        </p:spPr>
        <p:txBody>
          <a:bodyPr wrap="square" lIns="0" tIns="28353" rIns="0" bIns="0" rtlCol="0" anchor="t">
            <a:normAutofit/>
          </a:bodyPr>
          <a:lstStyle/>
          <a:p>
            <a:pPr marL="111760" indent="-111760" algn="l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Searching through hundreds of student records is slow and error-prone</a:t>
            </a:r>
            <a:endParaRPr lang="en-US" sz="550" dirty="0"/>
          </a:p>
          <a:p>
            <a:pPr marL="111760" indent="-111760" algn="l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Identifying eligible candidates for a specific role is tedious</a:t>
            </a:r>
            <a:endParaRPr lang="en-US" sz="550" dirty="0"/>
          </a:p>
          <a:p>
            <a:pPr marL="111760" indent="-111760" algn="l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Tracking recruitment drives and application status lacks structure</a:t>
            </a:r>
            <a:endParaRPr lang="en-US" sz="550" dirty="0"/>
          </a:p>
        </p:txBody>
      </p:sp>
      <p:sp>
        <p:nvSpPr>
          <p:cNvPr id="8" name="Shape 5"/>
          <p:cNvSpPr/>
          <p:nvPr/>
        </p:nvSpPr>
        <p:spPr>
          <a:xfrm>
            <a:off x="4663232" y="2985418"/>
            <a:ext cx="3989412" cy="184175"/>
          </a:xfrm>
          <a:prstGeom prst="roundRect">
            <a:avLst>
              <a:gd name="adj" fmla="val 16165"/>
            </a:avLst>
          </a:prstGeom>
          <a:solidFill>
            <a:srgbClr val="E1E1EA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4074" y="3038549"/>
            <a:ext cx="88553" cy="7084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893469" y="3034978"/>
            <a:ext cx="4145533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There is a clear need for a system that uses DSA to </a:t>
            </a:r>
            <a:r>
              <a:rPr lang="en-US" sz="55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organize, process, and retrieve</a:t>
            </a:r>
            <a:r>
              <a:rPr lang="en-US" sz="5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placement data efficiently.</a:t>
            </a:r>
            <a:endParaRPr lang="en-US" sz="55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9BF9AF0-2600-06A0-D213-1EA3425611AE}"/>
              </a:ext>
            </a:extLst>
          </p:cNvPr>
          <p:cNvSpPr/>
          <p:nvPr/>
        </p:nvSpPr>
        <p:spPr>
          <a:xfrm>
            <a:off x="7909560" y="4630783"/>
            <a:ext cx="1175657" cy="51271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41499"/>
            <a:ext cx="618455" cy="188565"/>
          </a:xfrm>
          <a:prstGeom prst="roundRect">
            <a:avLst>
              <a:gd name="adj" fmla="val 22104"/>
            </a:avLst>
          </a:prstGeom>
          <a:solidFill>
            <a:srgbClr val="E1E1EA"/>
          </a:solidFill>
          <a:ln/>
        </p:spPr>
      </p:sp>
      <p:sp>
        <p:nvSpPr>
          <p:cNvPr id="3" name="Text 1"/>
          <p:cNvSpPr/>
          <p:nvPr/>
        </p:nvSpPr>
        <p:spPr>
          <a:xfrm>
            <a:off x="570533" y="478706"/>
            <a:ext cx="926827" cy="114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FEATURES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96119" y="673447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Proposed Functionalities</a:t>
            </a:r>
            <a:endParaRPr lang="en-US" sz="2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223739"/>
            <a:ext cx="248022" cy="24802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96119" y="1607418"/>
            <a:ext cx="400801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Student Management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96119" y="1866379"/>
            <a:ext cx="4008016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Add, update, delete, and search student records. Store skills, qualifications, and application status.</a:t>
            </a:r>
            <a:endParaRPr lang="en-US" sz="9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39791" y="1223739"/>
            <a:ext cx="248022" cy="24802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639791" y="1607418"/>
            <a:ext cx="4008090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Company &amp; Job Profiles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4639791" y="1866379"/>
            <a:ext cx="4008090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Maintain company details, job roles, and eligibility criteria. Manage multiple recruitment drives.</a:t>
            </a:r>
            <a:endParaRPr lang="en-US" sz="9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2455515"/>
            <a:ext cx="248022" cy="24802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96119" y="2839194"/>
            <a:ext cx="400801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Search &amp; Filter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496119" y="3098155"/>
            <a:ext cx="4008016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Search and filter students by skills, CGPA, branch, or qualifications for targeted shortlisting.</a:t>
            </a:r>
            <a:endParaRPr lang="en-US" sz="9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39791" y="2455515"/>
            <a:ext cx="248022" cy="24802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639791" y="2839194"/>
            <a:ext cx="4008090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Smart Matching</a:t>
            </a:r>
            <a:endParaRPr lang="en-US" sz="1200" dirty="0"/>
          </a:p>
        </p:txBody>
      </p:sp>
      <p:sp>
        <p:nvSpPr>
          <p:cNvPr id="16" name="Text 10"/>
          <p:cNvSpPr/>
          <p:nvPr/>
        </p:nvSpPr>
        <p:spPr>
          <a:xfrm>
            <a:off x="4639791" y="3098155"/>
            <a:ext cx="4008090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Automatically match eligible students with suitable job opportunities based on defined criteria.</a:t>
            </a:r>
            <a:endParaRPr lang="en-US" sz="95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6119" y="3687291"/>
            <a:ext cx="248022" cy="248022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496119" y="4070970"/>
            <a:ext cx="400801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Sort &amp; Organize</a:t>
            </a:r>
            <a:endParaRPr lang="en-US" sz="1200" dirty="0"/>
          </a:p>
        </p:txBody>
      </p:sp>
      <p:sp>
        <p:nvSpPr>
          <p:cNvPr id="19" name="Text 12"/>
          <p:cNvSpPr/>
          <p:nvPr/>
        </p:nvSpPr>
        <p:spPr>
          <a:xfrm>
            <a:off x="496119" y="4329931"/>
            <a:ext cx="4008016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Sort student and company records by various parameters for quick analysis and reporting.</a:t>
            </a:r>
            <a:endParaRPr lang="en-US" sz="950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39791" y="3687291"/>
            <a:ext cx="248022" cy="248022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4639791" y="4070970"/>
            <a:ext cx="4008090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Status Tracking</a:t>
            </a:r>
            <a:endParaRPr lang="en-US" sz="1200" dirty="0"/>
          </a:p>
        </p:txBody>
      </p:sp>
      <p:sp>
        <p:nvSpPr>
          <p:cNvPr id="22" name="Text 14"/>
          <p:cNvSpPr/>
          <p:nvPr/>
        </p:nvSpPr>
        <p:spPr>
          <a:xfrm>
            <a:off x="4639791" y="4329931"/>
            <a:ext cx="4008090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Track application and placement status for every student across all active recruitment drives.</a:t>
            </a:r>
            <a:endParaRPr lang="en-US" sz="95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36DCDB5-B6E8-7915-BB5E-56CCABD4F637}"/>
              </a:ext>
            </a:extLst>
          </p:cNvPr>
          <p:cNvSpPr/>
          <p:nvPr/>
        </p:nvSpPr>
        <p:spPr>
          <a:xfrm>
            <a:off x="7909560" y="4630783"/>
            <a:ext cx="1175657" cy="51271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96999"/>
            <a:ext cx="517103" cy="141387"/>
          </a:xfrm>
          <a:prstGeom prst="roundRect">
            <a:avLst>
              <a:gd name="adj" fmla="val 22109"/>
            </a:avLst>
          </a:prstGeom>
          <a:solidFill>
            <a:srgbClr val="E1E1EA"/>
          </a:solidFill>
          <a:ln/>
        </p:spPr>
      </p:sp>
      <p:sp>
        <p:nvSpPr>
          <p:cNvPr id="3" name="Text 1"/>
          <p:cNvSpPr/>
          <p:nvPr/>
        </p:nvSpPr>
        <p:spPr>
          <a:xfrm>
            <a:off x="551929" y="424904"/>
            <a:ext cx="862682" cy="855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WORKFLOW</a:t>
            </a:r>
            <a:endParaRPr lang="en-US" sz="550" dirty="0"/>
          </a:p>
        </p:txBody>
      </p:sp>
      <p:sp>
        <p:nvSpPr>
          <p:cNvPr id="4" name="Text 2"/>
          <p:cNvSpPr/>
          <p:nvPr/>
        </p:nvSpPr>
        <p:spPr>
          <a:xfrm>
            <a:off x="496119" y="562794"/>
            <a:ext cx="8151763" cy="290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System Workflow</a:t>
            </a:r>
            <a:endParaRPr lang="en-US" sz="1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679" y="945059"/>
            <a:ext cx="8084567" cy="34862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73714" y="3770164"/>
            <a:ext cx="1834102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Suitable Companies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73714" y="2963160"/>
            <a:ext cx="1834102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Eligibility Match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73714" y="2164307"/>
            <a:ext cx="1834102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Data Processing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73714" y="1357302"/>
            <a:ext cx="1834102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Student Data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96119" y="4499967"/>
            <a:ext cx="8151763" cy="246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system processes raw student data through structured DSA operations, filters candidates based on eligibility, matches them to suitable companies, and tracks their placement status through to completion.</a:t>
            </a:r>
            <a:endParaRPr lang="en-US" sz="7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1AEB5E9-CAE3-DA18-551A-5B7FA3BF24F1}"/>
              </a:ext>
            </a:extLst>
          </p:cNvPr>
          <p:cNvSpPr/>
          <p:nvPr/>
        </p:nvSpPr>
        <p:spPr>
          <a:xfrm>
            <a:off x="7909560" y="4630783"/>
            <a:ext cx="1175657" cy="51271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89855"/>
            <a:ext cx="349672" cy="107603"/>
          </a:xfrm>
          <a:prstGeom prst="roundRect">
            <a:avLst>
              <a:gd name="adj" fmla="val 22134"/>
            </a:avLst>
          </a:prstGeom>
          <a:solidFill>
            <a:srgbClr val="E1E1EA"/>
          </a:solidFill>
          <a:ln/>
        </p:spPr>
      </p:sp>
      <p:sp>
        <p:nvSpPr>
          <p:cNvPr id="3" name="Text 1"/>
          <p:cNvSpPr/>
          <p:nvPr/>
        </p:nvSpPr>
        <p:spPr>
          <a:xfrm>
            <a:off x="538609" y="411063"/>
            <a:ext cx="721891" cy="65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CORE DSA</a:t>
            </a:r>
            <a:endParaRPr lang="en-US" sz="400" dirty="0"/>
          </a:p>
        </p:txBody>
      </p:sp>
      <p:sp>
        <p:nvSpPr>
          <p:cNvPr id="4" name="Text 2"/>
          <p:cNvSpPr/>
          <p:nvPr/>
        </p:nvSpPr>
        <p:spPr>
          <a:xfrm>
            <a:off x="496119" y="511597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How DSA Powers Placement Hub</a:t>
            </a:r>
            <a:endParaRPr lang="en-US" sz="13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825996"/>
            <a:ext cx="3989412" cy="39894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663232" y="2534617"/>
            <a:ext cx="4446612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Each data structure is chosen for a </a:t>
            </a:r>
            <a:r>
              <a:rPr lang="en-US" sz="5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specific purpose</a:t>
            </a:r>
            <a:r>
              <a:rPr lang="en-US" sz="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within the system:</a:t>
            </a:r>
            <a:endParaRPr lang="en-US" sz="550" dirty="0"/>
          </a:p>
        </p:txBody>
      </p:sp>
      <p:sp>
        <p:nvSpPr>
          <p:cNvPr id="7" name="Text 4"/>
          <p:cNvSpPr/>
          <p:nvPr/>
        </p:nvSpPr>
        <p:spPr>
          <a:xfrm>
            <a:off x="4663232" y="2651522"/>
            <a:ext cx="3989412" cy="474687"/>
          </a:xfrm>
          <a:prstGeom prst="rect">
            <a:avLst/>
          </a:prstGeom>
          <a:noFill/>
          <a:ln/>
        </p:spPr>
        <p:txBody>
          <a:bodyPr wrap="square" lIns="0" tIns="28353" rIns="0" bIns="0" rtlCol="0" anchor="t">
            <a:normAutofit/>
          </a:bodyPr>
          <a:lstStyle/>
          <a:p>
            <a:pPr marL="111760" indent="-111760" algn="l">
              <a:lnSpc>
                <a:spcPct val="100000"/>
              </a:lnSpc>
              <a:buSzPct val="100000"/>
              <a:buChar char="•"/>
            </a:pPr>
            <a:r>
              <a:rPr lang="en-US" sz="5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Arrays &amp; Linked Lists</a:t>
            </a:r>
            <a:r>
              <a:rPr lang="en-US" sz="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store and manage dynamic student/company records</a:t>
            </a:r>
            <a:endParaRPr lang="en-US" sz="550" dirty="0"/>
          </a:p>
          <a:p>
            <a:pPr marL="111760" indent="-111760" algn="l">
              <a:lnSpc>
                <a:spcPct val="100000"/>
              </a:lnSpc>
              <a:buSzPct val="100000"/>
              <a:buChar char="•"/>
            </a:pPr>
            <a:r>
              <a:rPr lang="en-US" sz="5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Hash Tables</a:t>
            </a:r>
            <a:r>
              <a:rPr lang="en-US" sz="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enable O(1) lookup for student roll numbers and company IDs</a:t>
            </a:r>
            <a:endParaRPr lang="en-US" sz="550" dirty="0"/>
          </a:p>
          <a:p>
            <a:pPr marL="111760" indent="-111760" algn="l">
              <a:lnSpc>
                <a:spcPct val="100000"/>
              </a:lnSpc>
              <a:buSzPct val="100000"/>
              <a:buChar char="•"/>
            </a:pPr>
            <a:r>
              <a:rPr lang="en-US" sz="5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Binary Search Trees</a:t>
            </a:r>
            <a:r>
              <a:rPr lang="en-US" sz="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support sorted filtering by CGPA, branch, or skills</a:t>
            </a:r>
            <a:endParaRPr lang="en-US" sz="550" dirty="0"/>
          </a:p>
          <a:p>
            <a:pPr marL="111760" indent="-111760" algn="l">
              <a:lnSpc>
                <a:spcPct val="100000"/>
              </a:lnSpc>
              <a:buSzPct val="100000"/>
              <a:buChar char="•"/>
            </a:pPr>
            <a:r>
              <a:rPr lang="en-US" sz="5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Sorting Algorithms</a:t>
            </a:r>
            <a:r>
              <a:rPr lang="en-US" sz="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rank students for shortlisting (Bubble, Insertion, Quick Sort)</a:t>
            </a:r>
            <a:endParaRPr lang="en-US" sz="550" dirty="0"/>
          </a:p>
          <a:p>
            <a:pPr marL="111760" indent="-111760" algn="l">
              <a:lnSpc>
                <a:spcPct val="100000"/>
              </a:lnSpc>
              <a:buSzPct val="100000"/>
              <a:buChar char="•"/>
            </a:pPr>
            <a:r>
              <a:rPr lang="en-US" sz="5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Queues</a:t>
            </a:r>
            <a:r>
              <a:rPr lang="en-US" sz="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manage application processing order in recruitment drives</a:t>
            </a:r>
            <a:endParaRPr lang="en-US" sz="55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15B2BC6-1FDF-FB53-BFEA-69E16849EED3}"/>
              </a:ext>
            </a:extLst>
          </p:cNvPr>
          <p:cNvSpPr/>
          <p:nvPr/>
        </p:nvSpPr>
        <p:spPr>
          <a:xfrm>
            <a:off x="7909560" y="4630783"/>
            <a:ext cx="1175657" cy="51271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726579"/>
            <a:ext cx="833661" cy="215354"/>
          </a:xfrm>
          <a:prstGeom prst="roundRect">
            <a:avLst>
              <a:gd name="adj" fmla="val 22119"/>
            </a:avLst>
          </a:prstGeom>
          <a:solidFill>
            <a:srgbClr val="E1E1EA"/>
          </a:solidFill>
          <a:ln/>
        </p:spPr>
      </p:sp>
      <p:sp>
        <p:nvSpPr>
          <p:cNvPr id="3" name="Text 1"/>
          <p:cNvSpPr/>
          <p:nvPr/>
        </p:nvSpPr>
        <p:spPr>
          <a:xfrm>
            <a:off x="581174" y="769069"/>
            <a:ext cx="1120750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TECH STACK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998637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Tools &amp; Technologies</a:t>
            </a:r>
            <a:endParaRPr lang="en-US" sz="2750" dirty="0"/>
          </a:p>
        </p:txBody>
      </p:sp>
      <p:sp>
        <p:nvSpPr>
          <p:cNvPr id="5" name="Shape 3"/>
          <p:cNvSpPr/>
          <p:nvPr/>
        </p:nvSpPr>
        <p:spPr>
          <a:xfrm>
            <a:off x="496119" y="1654225"/>
            <a:ext cx="4004965" cy="826368"/>
          </a:xfrm>
          <a:prstGeom prst="roundRect">
            <a:avLst>
              <a:gd name="adj" fmla="val 7205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2640" y="1800746"/>
            <a:ext cx="37119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Language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42640" y="2078906"/>
            <a:ext cx="37119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Java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642842" y="1654225"/>
            <a:ext cx="4005039" cy="826368"/>
          </a:xfrm>
          <a:prstGeom prst="roundRect">
            <a:avLst>
              <a:gd name="adj" fmla="val 7205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89363" y="1800746"/>
            <a:ext cx="371199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Core Concepts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789363" y="2107257"/>
            <a:ext cx="371199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 Structures &amp; Algorithms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96119" y="2622352"/>
            <a:ext cx="4004965" cy="826368"/>
          </a:xfrm>
          <a:prstGeom prst="roundRect">
            <a:avLst>
              <a:gd name="adj" fmla="val 7205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2640" y="2768873"/>
            <a:ext cx="37119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Data Structures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42640" y="3075384"/>
            <a:ext cx="371192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Arrays, Linked Lists, Stacks, Queues, Trees, Hash Tables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42842" y="2622352"/>
            <a:ext cx="4005039" cy="826368"/>
          </a:xfrm>
          <a:prstGeom prst="roundRect">
            <a:avLst>
              <a:gd name="adj" fmla="val 7205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89363" y="2768873"/>
            <a:ext cx="371199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Algorithms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789363" y="3075384"/>
            <a:ext cx="371199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Searching, Sorting, Traversal, Matching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96119" y="3590479"/>
            <a:ext cx="4004965" cy="826368"/>
          </a:xfrm>
          <a:prstGeom prst="roundRect">
            <a:avLst>
              <a:gd name="adj" fmla="val 7205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2640" y="3737000"/>
            <a:ext cx="37119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Environment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42640" y="4043511"/>
            <a:ext cx="371192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VS Code / Code::Blocks · Windows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42842" y="3590479"/>
            <a:ext cx="4005039" cy="826368"/>
          </a:xfrm>
          <a:prstGeom prst="roundRect">
            <a:avLst>
              <a:gd name="adj" fmla="val 7205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89363" y="3737000"/>
            <a:ext cx="371199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Storage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789363" y="4043511"/>
            <a:ext cx="371199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File Handling or MySQL</a:t>
            </a:r>
            <a:endParaRPr lang="en-US" sz="110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3E85640-C78E-BF99-A78A-2F21E0FD0175}"/>
              </a:ext>
            </a:extLst>
          </p:cNvPr>
          <p:cNvSpPr/>
          <p:nvPr/>
        </p:nvSpPr>
        <p:spPr>
          <a:xfrm>
            <a:off x="7909560" y="4630783"/>
            <a:ext cx="1175657" cy="51271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15751"/>
            <a:ext cx="625748" cy="191839"/>
          </a:xfrm>
          <a:prstGeom prst="roundRect">
            <a:avLst>
              <a:gd name="adj" fmla="val 22114"/>
            </a:avLst>
          </a:prstGeom>
          <a:solidFill>
            <a:srgbClr val="E1E1EA"/>
          </a:solidFill>
          <a:ln/>
        </p:spPr>
      </p:sp>
      <p:sp>
        <p:nvSpPr>
          <p:cNvPr id="3" name="Text 1"/>
          <p:cNvSpPr/>
          <p:nvPr/>
        </p:nvSpPr>
        <p:spPr>
          <a:xfrm>
            <a:off x="571872" y="453628"/>
            <a:ext cx="931441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OUTCOME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96119" y="652537"/>
            <a:ext cx="8151763" cy="394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Expected Outcome</a:t>
            </a:r>
            <a:endParaRPr lang="en-US" sz="24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0020" y="2835846"/>
            <a:ext cx="142875" cy="1428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257574" y="3038847"/>
            <a:ext cx="1667768" cy="100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6000"/>
              </a:lnSpc>
              <a:buNone/>
            </a:pPr>
            <a:r>
              <a:rPr lang="en-US" sz="500" dirty="0">
                <a:solidFill>
                  <a:srgbClr val="AEAEB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There was an error generating this image</a:t>
            </a:r>
            <a:endParaRPr lang="en-US" sz="500" dirty="0"/>
          </a:p>
        </p:txBody>
      </p:sp>
      <p:sp>
        <p:nvSpPr>
          <p:cNvPr id="8" name="Text 5"/>
          <p:cNvSpPr/>
          <p:nvPr/>
        </p:nvSpPr>
        <p:spPr>
          <a:xfrm>
            <a:off x="931143" y="1267123"/>
            <a:ext cx="2652861" cy="5728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final deliverable is a </a:t>
            </a:r>
            <a:r>
              <a:rPr lang="en-US" sz="9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fully functional Placement Hub</a:t>
            </a: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that demonstrates practical DSA application in a real-world scenario.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931143" y="1839962"/>
            <a:ext cx="2652861" cy="1645444"/>
          </a:xfrm>
          <a:prstGeom prst="rect">
            <a:avLst/>
          </a:prstGeom>
          <a:noFill/>
          <a:ln/>
        </p:spPr>
        <p:txBody>
          <a:bodyPr wrap="square" lIns="0" tIns="50505" rIns="0" bIns="0" rtlCol="0" anchor="t">
            <a:normAutofit/>
          </a:bodyPr>
          <a:lstStyle/>
          <a:p>
            <a:pPr marL="193040" indent="-193040" algn="l">
              <a:lnSpc>
                <a:spcPct val="126000"/>
              </a:lnSpc>
              <a:buSzPct val="100000"/>
              <a:buChar char="•"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Reduces manual effort for placement administrators</a:t>
            </a:r>
            <a:endParaRPr lang="en-US" sz="950" dirty="0"/>
          </a:p>
          <a:p>
            <a:pPr marL="193040" indent="-193040" algn="l">
              <a:lnSpc>
                <a:spcPct val="126000"/>
              </a:lnSpc>
              <a:buSzPct val="100000"/>
              <a:buChar char="•"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Improves search, sort, and filter efficiency significantly</a:t>
            </a:r>
            <a:endParaRPr lang="en-US" sz="950" dirty="0"/>
          </a:p>
          <a:p>
            <a:pPr marL="193040" indent="-193040" algn="l">
              <a:lnSpc>
                <a:spcPct val="126000"/>
              </a:lnSpc>
              <a:buSzPct val="100000"/>
              <a:buChar char="•"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Accurately identifies eligible candidates for recruitment drives</a:t>
            </a:r>
            <a:endParaRPr lang="en-US" sz="950" dirty="0"/>
          </a:p>
          <a:p>
            <a:pPr marL="193040" indent="-193040" algn="l">
              <a:lnSpc>
                <a:spcPct val="126000"/>
              </a:lnSpc>
              <a:buSzPct val="100000"/>
              <a:buChar char="•"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Demonstrates practical use of hashing, trees, linked lists, and sorting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931143" y="3758431"/>
            <a:ext cx="2652861" cy="838349"/>
          </a:xfrm>
          <a:prstGeom prst="roundRect">
            <a:avLst>
              <a:gd name="adj" fmla="val 6326"/>
            </a:avLst>
          </a:prstGeom>
          <a:solidFill>
            <a:srgbClr val="B6FCB8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7592" y="3891185"/>
            <a:ext cx="157758" cy="12620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01799" y="3868299"/>
            <a:ext cx="2116485" cy="5728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project bridges academic DSA concepts with a tangible, useful system for college placement cells.</a:t>
            </a:r>
            <a:endParaRPr lang="en-US" sz="95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E0CDF4E-C38C-209E-C7CB-F830475EBC88}"/>
              </a:ext>
            </a:extLst>
          </p:cNvPr>
          <p:cNvSpPr/>
          <p:nvPr/>
        </p:nvSpPr>
        <p:spPr>
          <a:xfrm>
            <a:off x="7909560" y="4630783"/>
            <a:ext cx="1175657" cy="51271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606129" y="725318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000" dirty="0">
                <a:solidFill>
                  <a:srgbClr val="1B1B27"/>
                </a:solidFill>
                <a:latin typeface="Algerian" panose="04020705040A02060702" pitchFamily="82" charset="0"/>
                <a:ea typeface="Raleway" pitchFamily="34" charset="-122"/>
                <a:cs typeface="Raleway" pitchFamily="34" charset="-120"/>
              </a:rPr>
              <a:t>Thank You</a:t>
            </a:r>
            <a:endParaRPr lang="en-US" sz="4000" dirty="0">
              <a:latin typeface="Algerian" panose="04020705040A02060702" pitchFamily="82" charset="0"/>
            </a:endParaRPr>
          </a:p>
        </p:txBody>
      </p:sp>
      <p:sp>
        <p:nvSpPr>
          <p:cNvPr id="6" name="Text 2"/>
          <p:cNvSpPr/>
          <p:nvPr/>
        </p:nvSpPr>
        <p:spPr>
          <a:xfrm>
            <a:off x="2210618" y="1802900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 appreciate your time and attention. We welcome your questions, feedback, and suggestions.</a:t>
            </a:r>
            <a:endParaRPr lang="en-US" sz="1100" dirty="0"/>
          </a:p>
        </p:txBody>
      </p:sp>
      <p:sp>
        <p:nvSpPr>
          <p:cNvPr id="7" name="Shape 3"/>
          <p:cNvSpPr/>
          <p:nvPr/>
        </p:nvSpPr>
        <p:spPr>
          <a:xfrm>
            <a:off x="3832137" y="2571750"/>
            <a:ext cx="1479724" cy="1308571"/>
          </a:xfrm>
          <a:prstGeom prst="roundRect">
            <a:avLst>
              <a:gd name="adj" fmla="val 4550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C7C7D0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4085927" y="2712616"/>
            <a:ext cx="11581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Project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4085927" y="3019127"/>
            <a:ext cx="115810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Placement Hub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546601" y="2551807"/>
            <a:ext cx="1479724" cy="1308571"/>
          </a:xfrm>
          <a:prstGeom prst="roundRect">
            <a:avLst>
              <a:gd name="adj" fmla="val 4550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C7C7D0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707410" y="2712616"/>
            <a:ext cx="11581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Domain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5707410" y="3019127"/>
            <a:ext cx="115810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 Structures &amp; Algorithms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7168083" y="2551807"/>
            <a:ext cx="1479724" cy="1308571"/>
          </a:xfrm>
          <a:prstGeom prst="roundRect">
            <a:avLst>
              <a:gd name="adj" fmla="val 4550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C7C7D0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7328892" y="2712616"/>
            <a:ext cx="11581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Context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7328892" y="3019127"/>
            <a:ext cx="1158106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College Placement Management</a:t>
            </a:r>
            <a:endParaRPr lang="en-US" sz="11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170DC66-3D81-B76A-F47F-FF876598CF5B}"/>
              </a:ext>
            </a:extLst>
          </p:cNvPr>
          <p:cNvSpPr/>
          <p:nvPr/>
        </p:nvSpPr>
        <p:spPr>
          <a:xfrm>
            <a:off x="7909560" y="4630783"/>
            <a:ext cx="1175657" cy="51271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580</Words>
  <Application>Microsoft Office PowerPoint</Application>
  <PresentationFormat>On-screen Show (16:9)</PresentationFormat>
  <Paragraphs>88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Raleway</vt:lpstr>
      <vt:lpstr>Algerian</vt:lpstr>
      <vt:lpstr>Arial</vt:lpstr>
      <vt:lpstr>Roboto Bold</vt:lpstr>
      <vt:lpstr>Roboto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Thrinadh Bandaru</cp:lastModifiedBy>
  <cp:revision>5</cp:revision>
  <dcterms:created xsi:type="dcterms:W3CDTF">2026-08-13T08:07:23Z</dcterms:created>
  <dcterms:modified xsi:type="dcterms:W3CDTF">2026-08-13T08:33:15Z</dcterms:modified>
</cp:coreProperties>
</file>